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4630400" cy="8229600"/>
  <p:notesSz cx="8229600" cy="14630400"/>
  <p:embeddedFontLst>
    <p:embeddedFont>
      <p:font typeface="PT Sans" panose="020B0604020202020204" charset="-52"/>
      <p:regular r:id="rId12"/>
    </p:embeddedFon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Nunito Semi Bold" panose="020B0604020202020204" charset="-52"/>
      <p:regular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993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37724" y="2874169"/>
            <a:ext cx="6319361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Asteroid Shooter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37724" y="3937159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2D‑аркадная игра на Python с использованием библиотеки Arcade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37724" y="4589383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Интерактивная игра в жанре космического шутера с физикой движения, камерой, уровнями и системой </a:t>
            </a:r>
            <a:r>
              <a:rPr lang="en-US" sz="1850" dirty="0" err="1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усилений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.</a:t>
            </a:r>
          </a:p>
          <a:p>
            <a:pPr marL="0" indent="0" algn="l">
              <a:lnSpc>
                <a:spcPts val="3000"/>
              </a:lnSpc>
              <a:buNone/>
            </a:pPr>
            <a:endParaRPr lang="en-US" sz="1850" dirty="0">
              <a:solidFill>
                <a:srgbClr val="FFFFFF"/>
              </a:solidFill>
              <a:latin typeface="PT Sans" pitchFamily="34" charset="0"/>
            </a:endParaRPr>
          </a:p>
          <a:p>
            <a:pPr marL="0" indent="0" algn="l">
              <a:lnSpc>
                <a:spcPts val="3000"/>
              </a:lnSpc>
              <a:buNone/>
            </a:pPr>
            <a:endParaRPr lang="en-US" sz="1850" dirty="0">
              <a:solidFill>
                <a:srgbClr val="FFFFFF"/>
              </a:solidFill>
              <a:latin typeface="PT Sans" pitchFamily="34" charset="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ru-RU" sz="1850" dirty="0">
                <a:solidFill>
                  <a:srgbClr val="FFFFFF"/>
                </a:solidFill>
                <a:latin typeface="PT Sans" pitchFamily="34" charset="0"/>
              </a:rPr>
              <a:t>Авторы: Максим Богушевич, Артем </a:t>
            </a:r>
            <a:r>
              <a:rPr lang="ru-RU" sz="1850" dirty="0" err="1">
                <a:solidFill>
                  <a:srgbClr val="FFFFFF"/>
                </a:solidFill>
                <a:latin typeface="PT Sans" pitchFamily="34" charset="0"/>
              </a:rPr>
              <a:t>Бардеев</a:t>
            </a:r>
            <a:endParaRPr lang="en-US" sz="185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6E3A60-0F45-486C-BFFA-9AB250B2461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267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538293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Идея и цель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69986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Основная идея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Воссоздать классическую аркадную игру </a:t>
            </a:r>
            <a:r>
              <a:rPr lang="en-US" sz="18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Asteroids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75785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Реализовать динамический игровой процесс в реальном времени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614761" y="369986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Цель проекта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614761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Изучение разработки 2D‑игр на Python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7614761" y="475785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Работа с игровым циклом, физикой и столкновениями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522458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модульной архитектуры</a:t>
            </a:r>
            <a:endParaRPr lang="en-US" sz="185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7BBDE85-03B7-4DE6-805A-23318BEA18A1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/>
          <a:srcRect l="943" t="32877"/>
          <a:stretch/>
        </p:blipFill>
        <p:spPr>
          <a:xfrm>
            <a:off x="19878" y="-1"/>
            <a:ext cx="14610522" cy="24501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071568"/>
            <a:ext cx="4632841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Архитектура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23314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Структура проекта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38244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game/ — экраны игры (menu, game, game over)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entities/ — игровые объекты (корабль, астероиды, пули)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37723" y="4774645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systems/ —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управление 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звук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ом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и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изображениями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837724" y="527333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assets/ — изображения и звуки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323314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Принцип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614761" y="38244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Каждый игровой объект — отдельный класс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614761" y="42911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Логика, визуал и данные разделены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98F27B3-88E3-4FEE-86CA-F1F5325D7371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613" y="0"/>
            <a:ext cx="4578788" cy="37407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832134"/>
            <a:ext cx="60493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Управление и игровой цикл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299370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Управление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358497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← / → — поворот корабля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05169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↑ — ускорение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451842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SPACE — стрельба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614761" y="299370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Игровой цикл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14761" y="358497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Используется стандартный цикл Arcade: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7614761" y="4237196"/>
            <a:ext cx="6185535" cy="1890951"/>
          </a:xfrm>
          <a:prstGeom prst="roundRect">
            <a:avLst>
              <a:gd name="adj" fmla="val 18989"/>
            </a:avLst>
          </a:prstGeom>
          <a:solidFill>
            <a:srgbClr val="0D0D3B"/>
          </a:solidFill>
          <a:ln/>
        </p:spPr>
      </p:sp>
      <p:sp>
        <p:nvSpPr>
          <p:cNvPr id="10" name="Shape 8"/>
          <p:cNvSpPr/>
          <p:nvPr/>
        </p:nvSpPr>
        <p:spPr>
          <a:xfrm>
            <a:off x="7602855" y="4237196"/>
            <a:ext cx="6209348" cy="1890951"/>
          </a:xfrm>
          <a:prstGeom prst="roundRect">
            <a:avLst>
              <a:gd name="adj" fmla="val 1899"/>
            </a:avLst>
          </a:prstGeom>
          <a:solidFill>
            <a:srgbClr val="0D0D3B"/>
          </a:solidFill>
          <a:ln/>
        </p:spPr>
      </p:sp>
      <p:sp>
        <p:nvSpPr>
          <p:cNvPr id="11" name="Text 9"/>
          <p:cNvSpPr/>
          <p:nvPr/>
        </p:nvSpPr>
        <p:spPr>
          <a:xfrm>
            <a:off x="7842171" y="4416623"/>
            <a:ext cx="5730716" cy="153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def on_update(self, delta_time):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self.ship.update(delta_time)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self.asteroids.update(delta_time)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self.bullets.update(delta_time)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9AD7C66-D6CC-4585-ACCD-4E7FD5A23357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50313"/>
            <a:ext cx="585108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Физика движения корабля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837724" y="2592348"/>
            <a:ext cx="6357818" cy="3434715"/>
          </a:xfrm>
          <a:prstGeom prst="roundRect">
            <a:avLst>
              <a:gd name="adj" fmla="val 4260"/>
            </a:avLst>
          </a:prstGeom>
          <a:solidFill>
            <a:srgbClr val="00002E">
              <a:alpha val="75000"/>
            </a:srgbClr>
          </a:solidFill>
          <a:ln w="30480">
            <a:solidFill>
              <a:srgbClr val="F2B4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7244" y="2592348"/>
            <a:ext cx="121920" cy="3434715"/>
          </a:xfrm>
          <a:prstGeom prst="roundRect">
            <a:avLst>
              <a:gd name="adj" fmla="val 294514"/>
            </a:avLst>
          </a:prstGeom>
          <a:solidFill>
            <a:srgbClr val="F2B42D"/>
          </a:solidFill>
          <a:ln/>
        </p:spPr>
      </p:sp>
      <p:sp>
        <p:nvSpPr>
          <p:cNvPr id="5" name="Text 3"/>
          <p:cNvSpPr/>
          <p:nvPr/>
        </p:nvSpPr>
        <p:spPr>
          <a:xfrm>
            <a:off x="1198959" y="2862143"/>
            <a:ext cx="3197543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Особенности движения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98959" y="3357682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Инерция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198959" y="3824407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Поворот по углу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198959" y="4291132"/>
            <a:ext cx="57267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Движение на основе векторов скорости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7434858" y="2592348"/>
            <a:ext cx="6357818" cy="3434715"/>
          </a:xfrm>
          <a:prstGeom prst="roundRect">
            <a:avLst>
              <a:gd name="adj" fmla="val 4260"/>
            </a:avLst>
          </a:prstGeom>
          <a:solidFill>
            <a:srgbClr val="00002E">
              <a:alpha val="75000"/>
            </a:srgbClr>
          </a:solidFill>
          <a:ln w="30480">
            <a:solidFill>
              <a:srgbClr val="D742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4378" y="2592348"/>
            <a:ext cx="121920" cy="3434715"/>
          </a:xfrm>
          <a:prstGeom prst="roundRect">
            <a:avLst>
              <a:gd name="adj" fmla="val 294514"/>
            </a:avLst>
          </a:prstGeom>
          <a:solidFill>
            <a:srgbClr val="D7425E"/>
          </a:solidFill>
          <a:ln/>
        </p:spPr>
      </p:sp>
      <p:sp>
        <p:nvSpPr>
          <p:cNvPr id="11" name="Text 9"/>
          <p:cNvSpPr/>
          <p:nvPr/>
        </p:nvSpPr>
        <p:spPr>
          <a:xfrm>
            <a:off x="7796093" y="286214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Пример кода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796093" y="3483293"/>
            <a:ext cx="5726787" cy="2273975"/>
          </a:xfrm>
          <a:prstGeom prst="roundRect">
            <a:avLst>
              <a:gd name="adj" fmla="val 15790"/>
            </a:avLst>
          </a:prstGeom>
          <a:solidFill>
            <a:srgbClr val="0D0D3B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187" y="3483293"/>
            <a:ext cx="5750600" cy="2273975"/>
          </a:xfrm>
          <a:prstGeom prst="roundRect">
            <a:avLst>
              <a:gd name="adj" fmla="val 1579"/>
            </a:avLst>
          </a:prstGeom>
          <a:solidFill>
            <a:srgbClr val="0D0D3B"/>
          </a:solidFill>
          <a:ln/>
        </p:spPr>
      </p:sp>
      <p:sp>
        <p:nvSpPr>
          <p:cNvPr id="14" name="Text 12"/>
          <p:cNvSpPr/>
          <p:nvPr/>
        </p:nvSpPr>
        <p:spPr>
          <a:xfrm>
            <a:off x="8023503" y="3662720"/>
            <a:ext cx="5271968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rad = math.radians(self.angle)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self.velocity_x += math.sin(rad) * ACCELERATION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self.velocity_y += math.cos(rad) * ACCELERATION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37724" y="6296263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не «телепортируется», а движется как физический объект.</a:t>
            </a:r>
            <a:endParaRPr lang="en-US" sz="185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6D72A8-93B2-43FD-B231-AE8BA1388497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341120"/>
            <a:ext cx="550378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Камера и движение мира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837724" y="2742128"/>
            <a:ext cx="4158734" cy="4146352"/>
          </a:xfrm>
          <a:prstGeom prst="roundRect">
            <a:avLst>
              <a:gd name="adj" fmla="val 3528"/>
            </a:avLst>
          </a:prstGeom>
          <a:solidFill>
            <a:srgbClr val="00002E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37724" y="2711648"/>
            <a:ext cx="4158734" cy="121920"/>
          </a:xfrm>
          <a:prstGeom prst="roundRect">
            <a:avLst>
              <a:gd name="adj" fmla="val 294514"/>
            </a:avLst>
          </a:prstGeom>
          <a:solidFill>
            <a:srgbClr val="F2B42D"/>
          </a:solidFill>
          <a:ln/>
        </p:spPr>
      </p:sp>
      <p:sp>
        <p:nvSpPr>
          <p:cNvPr id="5" name="Shape 3"/>
          <p:cNvSpPr/>
          <p:nvPr/>
        </p:nvSpPr>
        <p:spPr>
          <a:xfrm>
            <a:off x="2515611" y="2413040"/>
            <a:ext cx="718066" cy="718066"/>
          </a:xfrm>
          <a:prstGeom prst="roundRect">
            <a:avLst>
              <a:gd name="adj" fmla="val 127342"/>
            </a:avLst>
          </a:prstGeom>
          <a:solidFill>
            <a:srgbClr val="F2B42D"/>
          </a:solidFill>
          <a:ln/>
        </p:spPr>
      </p:sp>
      <p:sp>
        <p:nvSpPr>
          <p:cNvPr id="6" name="Text 4"/>
          <p:cNvSpPr/>
          <p:nvPr/>
        </p:nvSpPr>
        <p:spPr>
          <a:xfrm>
            <a:off x="2773382" y="2562701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107519" y="334053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Концепция камеры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07519" y="3836075"/>
            <a:ext cx="361914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 всегда 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около 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центр</a:t>
            </a:r>
            <a:r>
              <a:rPr lang="ru-RU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</a:t>
            </a: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экрана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1107519" y="4685824"/>
            <a:ext cx="361914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Двигается весь игровой мир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8518446" y="2711113"/>
            <a:ext cx="4158734" cy="121920"/>
          </a:xfrm>
          <a:prstGeom prst="roundRect">
            <a:avLst>
              <a:gd name="adj" fmla="val 294514"/>
            </a:avLst>
          </a:prstGeom>
          <a:solidFill>
            <a:srgbClr val="D7425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81227" y="2360441"/>
            <a:ext cx="718066" cy="718066"/>
          </a:xfrm>
          <a:prstGeom prst="roundRect">
            <a:avLst>
              <a:gd name="adj" fmla="val 127342"/>
            </a:avLst>
          </a:prstGeom>
          <a:solidFill>
            <a:srgbClr val="F2B42D"/>
          </a:solidFill>
          <a:ln/>
        </p:spPr>
      </p:sp>
      <p:sp>
        <p:nvSpPr>
          <p:cNvPr id="13" name="Text 11"/>
          <p:cNvSpPr/>
          <p:nvPr/>
        </p:nvSpPr>
        <p:spPr>
          <a:xfrm>
            <a:off x="10537061" y="2462135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2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2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8774788" y="3118362"/>
            <a:ext cx="301287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Реализация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700313" y="3616643"/>
            <a:ext cx="3619143" cy="2656999"/>
          </a:xfrm>
          <a:prstGeom prst="roundRect">
            <a:avLst>
              <a:gd name="adj" fmla="val 13514"/>
            </a:avLst>
          </a:prstGeom>
          <a:solidFill>
            <a:srgbClr val="0D0D3B"/>
          </a:solidFill>
          <a:ln/>
        </p:spPr>
      </p:sp>
      <p:sp>
        <p:nvSpPr>
          <p:cNvPr id="16" name="Shape 14"/>
          <p:cNvSpPr/>
          <p:nvPr/>
        </p:nvSpPr>
        <p:spPr>
          <a:xfrm>
            <a:off x="8676501" y="3588546"/>
            <a:ext cx="3642955" cy="2656999"/>
          </a:xfrm>
          <a:prstGeom prst="roundRect">
            <a:avLst>
              <a:gd name="adj" fmla="val 1351"/>
            </a:avLst>
          </a:prstGeom>
          <a:solidFill>
            <a:srgbClr val="0D0D3B"/>
          </a:solidFill>
          <a:ln/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Есть центральная зона движения самого корабля, при приближении к ее границам корабль замедляется и начинает двигаться весь остальной мир</a:t>
            </a:r>
          </a:p>
        </p:txBody>
      </p:sp>
      <p:sp>
        <p:nvSpPr>
          <p:cNvPr id="17" name="Text 15"/>
          <p:cNvSpPr/>
          <p:nvPr/>
        </p:nvSpPr>
        <p:spPr>
          <a:xfrm>
            <a:off x="5732978" y="4141113"/>
            <a:ext cx="3164324" cy="229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11569601" y="2562701"/>
            <a:ext cx="287179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5732978" y="696297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03619" y="3836075"/>
            <a:ext cx="3619262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9903619" y="4685824"/>
            <a:ext cx="3619262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endParaRPr lang="en-US" sz="185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260EDDA-5EED-4423-B736-5DE651D8973A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92029"/>
            <a:ext cx="5904786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Астероиды и столкновения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215360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Астероиды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274486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Имеют скорость и направление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321159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3000"/>
              </a:lnSpc>
              <a:buSzPct val="100000"/>
            </a:pP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614761" y="2153603"/>
            <a:ext cx="281725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842171" y="2954179"/>
            <a:ext cx="5730716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818197" y="4524051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Столкновения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18197" y="5132428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Пуля — астероид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18197" y="5704705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Корабль — астероид → Game Over</a:t>
            </a:r>
            <a:endParaRPr lang="en-US" sz="185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75D8410-0326-4F0C-BF0E-6DC4ED5999F9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050" y="0"/>
            <a:ext cx="6492757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334816"/>
            <a:ext cx="5042416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Очки, уровни и данные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Очки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087654"/>
            <a:ext cx="392858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Начисляются за уничтожение астероидов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5357813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Уровни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357813" y="4087654"/>
            <a:ext cx="392858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 каждым уровнем больше астероидов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357813" y="4937403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Увеличивается сложность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9877901" y="349638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Хранение данных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877901" y="4117538"/>
            <a:ext cx="3928586" cy="1507927"/>
          </a:xfrm>
          <a:prstGeom prst="roundRect">
            <a:avLst>
              <a:gd name="adj" fmla="val 23812"/>
            </a:avLst>
          </a:prstGeom>
          <a:solidFill>
            <a:srgbClr val="0D0D3B"/>
          </a:solidFill>
          <a:ln/>
        </p:spPr>
      </p:sp>
      <p:sp>
        <p:nvSpPr>
          <p:cNvPr id="10" name="Shape 8"/>
          <p:cNvSpPr/>
          <p:nvPr/>
        </p:nvSpPr>
        <p:spPr>
          <a:xfrm>
            <a:off x="9865995" y="4117538"/>
            <a:ext cx="3952399" cy="1507927"/>
          </a:xfrm>
          <a:prstGeom prst="roundRect">
            <a:avLst>
              <a:gd name="adj" fmla="val 2381"/>
            </a:avLst>
          </a:prstGeom>
          <a:solidFill>
            <a:srgbClr val="0D0D3B"/>
          </a:solidFill>
          <a:ln/>
        </p:spPr>
      </p:sp>
      <p:sp>
        <p:nvSpPr>
          <p:cNvPr id="11" name="Text 9"/>
          <p:cNvSpPr/>
          <p:nvPr/>
        </p:nvSpPr>
        <p:spPr>
          <a:xfrm>
            <a:off x="10105311" y="4296966"/>
            <a:ext cx="3473768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open("high_score.txt", "w") as f: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highlight>
                  <a:srgbClr val="0D0D3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f.write(str(score))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6D646FD-6EB8-40DE-82AE-DBFE3F995003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2304931"/>
            <a:ext cx="5618202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Итоги и развитие проекта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837724" y="3466505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Результаты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37724" y="405776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Полноценная 2D‑игра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452449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Реализованы физика, камера, столкновения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499121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Модульный и расширяемый код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614761" y="3466505"/>
            <a:ext cx="314991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Возможности развития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14761" y="405776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Новые типы врагов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4761" y="452449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Боссы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614761" y="499121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Анимации и эффекты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614761" y="5457944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Онлайн‑таблица рекордов</a:t>
            </a:r>
            <a:endParaRPr lang="en-US" sz="18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26C5E2E-E0D7-45F2-8B31-2A0E7D95E230}"/>
              </a:ext>
            </a:extLst>
          </p:cNvPr>
          <p:cNvSpPr/>
          <p:nvPr/>
        </p:nvSpPr>
        <p:spPr>
          <a:xfrm>
            <a:off x="12670971" y="7506119"/>
            <a:ext cx="1879042" cy="633046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335</Words>
  <Application>Microsoft Office PowerPoint</Application>
  <PresentationFormat>Произвольный</PresentationFormat>
  <Paragraphs>86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PT Sans</vt:lpstr>
      <vt:lpstr>Consolas</vt:lpstr>
      <vt:lpstr>Arial</vt:lpstr>
      <vt:lpstr>Nunito Semi Bold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Максим Богушевич</dc:creator>
  <cp:lastModifiedBy>Богушевич Максим</cp:lastModifiedBy>
  <cp:revision>6</cp:revision>
  <dcterms:created xsi:type="dcterms:W3CDTF">2026-01-18T11:33:04Z</dcterms:created>
  <dcterms:modified xsi:type="dcterms:W3CDTF">2026-01-27T13:28:16Z</dcterms:modified>
</cp:coreProperties>
</file>