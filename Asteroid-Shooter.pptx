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Nunito Semi Bold" panose="020B0604020202020204" charset="-52"/>
      <p:regular r:id="rId21"/>
    </p:embeddedFont>
    <p:embeddedFont>
      <p:font typeface="PT Sans" panose="020B0604020202020204" charset="-52"/>
      <p:regular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3993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2874169"/>
            <a:ext cx="631936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Asteroid Shooter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37724" y="3937159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2D‑аркадная игра на Python с использованием библиотеки Arcade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589383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Интерактивная игра в жанре космического шутера с физикой движения, камерой, уровнями и системой усилений.</a:t>
            </a:r>
            <a:endParaRPr lang="en-US" sz="185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6E3A60-0F45-486C-BFFA-9AB250B2461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67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38293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Идея и цель проекта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369986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Основная идея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29113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Воссоздать классическую аркадную игру </a:t>
            </a:r>
            <a:r>
              <a:rPr lang="en-US" sz="1850" i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Asteroids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75785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Реализовать динамический игровой процесс в реальном времени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369986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Цель проекта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14761" y="429113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Изучение разработки 2D‑игр на Python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475785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Работа с игровым циклом, физикой и столкновениями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4761" y="522458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Проектирование модульной архитектуры</a:t>
            </a:r>
            <a:endParaRPr lang="en-US" sz="18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7BBDE85-03B7-4DE6-805A-23318BEA18A1}"/>
              </a:ext>
            </a:extLst>
          </p:cNvPr>
          <p:cNvSpPr/>
          <p:nvPr/>
        </p:nvSpPr>
        <p:spPr>
          <a:xfrm>
            <a:off x="12670971" y="7506119"/>
            <a:ext cx="1879042" cy="633046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71568"/>
            <a:ext cx="4632841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Архитектура проекта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32331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Структура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82440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game/ — экраны игры (menu, game, game over)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29113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entities/ — игровые объекты (корабль, астероиды, пули)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75785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buffs/ — система усилений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22458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systems/ — </a:t>
            </a:r>
            <a:r>
              <a:rPr lang="ru-RU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управление 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звук</a:t>
            </a:r>
            <a:r>
              <a:rPr lang="ru-RU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ом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и </a:t>
            </a:r>
            <a:r>
              <a:rPr lang="ru-RU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изображениями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69130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assets/ — изображения и звуки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4761" y="32331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Принцип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14761" y="382440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Каждый игровой объект — отдельный класс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4761" y="429113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Логика, визуал и данные разделены</a:t>
            </a:r>
            <a:endParaRPr lang="en-US" sz="18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8F27B3-88E3-4FEE-86CA-F1F5325D7371}"/>
              </a:ext>
            </a:extLst>
          </p:cNvPr>
          <p:cNvSpPr/>
          <p:nvPr/>
        </p:nvSpPr>
        <p:spPr>
          <a:xfrm>
            <a:off x="12670971" y="7506119"/>
            <a:ext cx="1879042" cy="633046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32134"/>
            <a:ext cx="604932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Управление и игровой цикл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29937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Управление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58497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← / → — поворот корабля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05169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↑ — ускорение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51842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SPACE — стрельба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14761" y="29937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Игровой цикл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14761" y="358497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Используется стандартный цикл Arcade: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614761" y="4237196"/>
            <a:ext cx="6185535" cy="1890951"/>
          </a:xfrm>
          <a:prstGeom prst="roundRect">
            <a:avLst>
              <a:gd name="adj" fmla="val 18989"/>
            </a:avLst>
          </a:prstGeom>
          <a:solidFill>
            <a:srgbClr val="0D0D3B"/>
          </a:solidFill>
          <a:ln/>
        </p:spPr>
      </p:sp>
      <p:sp>
        <p:nvSpPr>
          <p:cNvPr id="10" name="Shape 8"/>
          <p:cNvSpPr/>
          <p:nvPr/>
        </p:nvSpPr>
        <p:spPr>
          <a:xfrm>
            <a:off x="7602855" y="4237196"/>
            <a:ext cx="6209348" cy="1890951"/>
          </a:xfrm>
          <a:prstGeom prst="roundRect">
            <a:avLst>
              <a:gd name="adj" fmla="val 1899"/>
            </a:avLst>
          </a:prstGeom>
          <a:solidFill>
            <a:srgbClr val="0D0D3B"/>
          </a:solidFill>
          <a:ln/>
        </p:spPr>
      </p:sp>
      <p:sp>
        <p:nvSpPr>
          <p:cNvPr id="11" name="Text 9"/>
          <p:cNvSpPr/>
          <p:nvPr/>
        </p:nvSpPr>
        <p:spPr>
          <a:xfrm>
            <a:off x="7842171" y="4416623"/>
            <a:ext cx="573071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on_update(self, delta_time):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self.ship.update(delta_time)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self.asteroids.update(delta_time)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self.bullets.update(delta_time)</a:t>
            </a:r>
            <a:endParaRPr lang="en-US" sz="18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9AD7C66-D6CC-4585-ACCD-4E7FD5A23357}"/>
              </a:ext>
            </a:extLst>
          </p:cNvPr>
          <p:cNvSpPr/>
          <p:nvPr/>
        </p:nvSpPr>
        <p:spPr>
          <a:xfrm>
            <a:off x="12670971" y="7506119"/>
            <a:ext cx="1879042" cy="633046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50313"/>
            <a:ext cx="585108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Физика движения корабля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2592348"/>
            <a:ext cx="6357818" cy="3434715"/>
          </a:xfrm>
          <a:prstGeom prst="roundRect">
            <a:avLst>
              <a:gd name="adj" fmla="val 4260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F2B4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2592348"/>
            <a:ext cx="121920" cy="3434715"/>
          </a:xfrm>
          <a:prstGeom prst="roundRect">
            <a:avLst>
              <a:gd name="adj" fmla="val 294514"/>
            </a:avLst>
          </a:prstGeom>
          <a:solidFill>
            <a:srgbClr val="F2B42D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2862143"/>
            <a:ext cx="319754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Особенности движения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3357682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Инерция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198959" y="3824407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Поворот по углу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198959" y="4291132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Движение на основе векторов скорости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434858" y="2592348"/>
            <a:ext cx="6357818" cy="3434715"/>
          </a:xfrm>
          <a:prstGeom prst="roundRect">
            <a:avLst>
              <a:gd name="adj" fmla="val 4260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742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4378" y="2592348"/>
            <a:ext cx="121920" cy="3434715"/>
          </a:xfrm>
          <a:prstGeom prst="roundRect">
            <a:avLst>
              <a:gd name="adj" fmla="val 294514"/>
            </a:avLst>
          </a:prstGeom>
          <a:solidFill>
            <a:srgbClr val="D7425E"/>
          </a:solidFill>
          <a:ln/>
        </p:spPr>
      </p:sp>
      <p:sp>
        <p:nvSpPr>
          <p:cNvPr id="11" name="Text 9"/>
          <p:cNvSpPr/>
          <p:nvPr/>
        </p:nvSpPr>
        <p:spPr>
          <a:xfrm>
            <a:off x="7796093" y="286214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Пример кода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96093" y="3483293"/>
            <a:ext cx="5726787" cy="2273975"/>
          </a:xfrm>
          <a:prstGeom prst="roundRect">
            <a:avLst>
              <a:gd name="adj" fmla="val 15790"/>
            </a:avLst>
          </a:prstGeom>
          <a:solidFill>
            <a:srgbClr val="0D0D3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187" y="3483293"/>
            <a:ext cx="5750600" cy="2273975"/>
          </a:xfrm>
          <a:prstGeom prst="roundRect">
            <a:avLst>
              <a:gd name="adj" fmla="val 1579"/>
            </a:avLst>
          </a:prstGeom>
          <a:solidFill>
            <a:srgbClr val="0D0D3B"/>
          </a:solidFill>
          <a:ln/>
        </p:spPr>
      </p:sp>
      <p:sp>
        <p:nvSpPr>
          <p:cNvPr id="14" name="Text 12"/>
          <p:cNvSpPr/>
          <p:nvPr/>
        </p:nvSpPr>
        <p:spPr>
          <a:xfrm>
            <a:off x="8023503" y="3662720"/>
            <a:ext cx="5271968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rad = math.radians(self.angle)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self.velocity_x += math.sin(rad) * ACCELERATION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self.velocity_y += math.cos(rad) * ACCELERATION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629626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Корабль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не «телепортируется», а движется как физический объект.</a:t>
            </a:r>
            <a:endParaRPr lang="en-US" sz="18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F6D72A8-93B2-43FD-B231-AE8BA1388497}"/>
              </a:ext>
            </a:extLst>
          </p:cNvPr>
          <p:cNvSpPr/>
          <p:nvPr/>
        </p:nvSpPr>
        <p:spPr>
          <a:xfrm>
            <a:off x="12670971" y="7506119"/>
            <a:ext cx="1879042" cy="633046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41120"/>
            <a:ext cx="550378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Камера и движение мира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2742128"/>
            <a:ext cx="4158734" cy="4146352"/>
          </a:xfrm>
          <a:prstGeom prst="roundRect">
            <a:avLst>
              <a:gd name="adj" fmla="val 3528"/>
            </a:avLst>
          </a:prstGeom>
          <a:solidFill>
            <a:srgbClr val="00002E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7724" y="2711648"/>
            <a:ext cx="4158734" cy="121920"/>
          </a:xfrm>
          <a:prstGeom prst="roundRect">
            <a:avLst>
              <a:gd name="adj" fmla="val 294514"/>
            </a:avLst>
          </a:prstGeom>
          <a:solidFill>
            <a:srgbClr val="F2B42D"/>
          </a:solidFill>
          <a:ln/>
        </p:spPr>
      </p:sp>
      <p:sp>
        <p:nvSpPr>
          <p:cNvPr id="5" name="Shape 3"/>
          <p:cNvSpPr/>
          <p:nvPr/>
        </p:nvSpPr>
        <p:spPr>
          <a:xfrm>
            <a:off x="2515611" y="2413040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sp>
        <p:nvSpPr>
          <p:cNvPr id="6" name="Text 4"/>
          <p:cNvSpPr/>
          <p:nvPr/>
        </p:nvSpPr>
        <p:spPr>
          <a:xfrm>
            <a:off x="2773382" y="2562701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07519" y="33405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Концепция камеры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07519" y="3836075"/>
            <a:ext cx="361914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Корабль всегда </a:t>
            </a:r>
            <a:r>
              <a:rPr lang="ru-RU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около 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центр</a:t>
            </a:r>
            <a:r>
              <a:rPr lang="ru-RU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экрана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107519" y="4685824"/>
            <a:ext cx="361914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Двигается весь игровой мир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518446" y="2711113"/>
            <a:ext cx="4158734" cy="121920"/>
          </a:xfrm>
          <a:prstGeom prst="roundRect">
            <a:avLst>
              <a:gd name="adj" fmla="val 294514"/>
            </a:avLst>
          </a:prstGeom>
          <a:solidFill>
            <a:srgbClr val="D742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81227" y="2360441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F2B42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37061" y="2462135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774788" y="3118362"/>
            <a:ext cx="301287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Реализация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700313" y="3616643"/>
            <a:ext cx="3619143" cy="2656999"/>
          </a:xfrm>
          <a:prstGeom prst="roundRect">
            <a:avLst>
              <a:gd name="adj" fmla="val 13514"/>
            </a:avLst>
          </a:prstGeom>
          <a:solidFill>
            <a:srgbClr val="0D0D3B"/>
          </a:solidFill>
          <a:ln/>
        </p:spPr>
      </p:sp>
      <p:sp>
        <p:nvSpPr>
          <p:cNvPr id="16" name="Shape 14"/>
          <p:cNvSpPr/>
          <p:nvPr/>
        </p:nvSpPr>
        <p:spPr>
          <a:xfrm>
            <a:off x="8676501" y="3588546"/>
            <a:ext cx="3642955" cy="2656999"/>
          </a:xfrm>
          <a:prstGeom prst="roundRect">
            <a:avLst>
              <a:gd name="adj" fmla="val 1351"/>
            </a:avLst>
          </a:prstGeom>
          <a:solidFill>
            <a:srgbClr val="0D0D3B"/>
          </a:solidFill>
          <a:ln/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Есть центральная зона движения самого корабля, при приближении к ее границам корабль замедляется и начинает двигаться весь остальной мир</a:t>
            </a:r>
          </a:p>
        </p:txBody>
      </p:sp>
      <p:sp>
        <p:nvSpPr>
          <p:cNvPr id="17" name="Text 15"/>
          <p:cNvSpPr/>
          <p:nvPr/>
        </p:nvSpPr>
        <p:spPr>
          <a:xfrm>
            <a:off x="5732978" y="4141113"/>
            <a:ext cx="3164324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11569601" y="2562701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5732978" y="696297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903619" y="3836075"/>
            <a:ext cx="36192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9903619" y="4685824"/>
            <a:ext cx="36192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endParaRPr lang="en-US" sz="185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260EDDA-5EED-4423-B736-5DE651D8973A}"/>
              </a:ext>
            </a:extLst>
          </p:cNvPr>
          <p:cNvSpPr/>
          <p:nvPr/>
        </p:nvSpPr>
        <p:spPr>
          <a:xfrm>
            <a:off x="12670971" y="7506119"/>
            <a:ext cx="1879042" cy="633046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92029"/>
            <a:ext cx="5904786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Астероиды и столкновения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215360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Астероиды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2744867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Имеют скорость и направление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21159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00"/>
              </a:lnSpc>
              <a:buSzPct val="100000"/>
            </a:pP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2153603"/>
            <a:ext cx="281725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42171" y="2954179"/>
            <a:ext cx="573071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18197" y="45240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Столкновения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8197" y="513242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Пуля — астероид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18197" y="570470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Корабль — астероид → Game Over</a:t>
            </a:r>
            <a:endParaRPr lang="en-US" sz="18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75D8410-0326-4F0C-BF0E-6DC4ED5999F9}"/>
              </a:ext>
            </a:extLst>
          </p:cNvPr>
          <p:cNvSpPr/>
          <p:nvPr/>
        </p:nvSpPr>
        <p:spPr>
          <a:xfrm>
            <a:off x="12670971" y="7506119"/>
            <a:ext cx="1879042" cy="633046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8556" y="651034"/>
            <a:ext cx="5384721" cy="556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Система усилений (Buffs)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28556" y="1681401"/>
            <a:ext cx="4166592" cy="2162056"/>
          </a:xfrm>
          <a:prstGeom prst="roundRect">
            <a:avLst>
              <a:gd name="adj" fmla="val 16425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12" y="1940957"/>
            <a:ext cx="710208" cy="710208"/>
          </a:xfrm>
          <a:prstGeom prst="roundRect">
            <a:avLst>
              <a:gd name="adj" fmla="val 12873814"/>
            </a:avLst>
          </a:prstGeom>
          <a:solidFill>
            <a:srgbClr val="F2B42D"/>
          </a:solidFill>
          <a:ln/>
        </p:spPr>
      </p:sp>
      <p:sp>
        <p:nvSpPr>
          <p:cNvPr id="6" name="Text 3"/>
          <p:cNvSpPr/>
          <p:nvPr/>
        </p:nvSpPr>
        <p:spPr>
          <a:xfrm>
            <a:off x="1088112" y="2887861"/>
            <a:ext cx="3253621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Замедление астероидов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5231844" y="1681401"/>
            <a:ext cx="4166592" cy="2162056"/>
          </a:xfrm>
          <a:prstGeom prst="roundRect">
            <a:avLst>
              <a:gd name="adj" fmla="val 16425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91401" y="1940957"/>
            <a:ext cx="710208" cy="710208"/>
          </a:xfrm>
          <a:prstGeom prst="roundRect">
            <a:avLst>
              <a:gd name="adj" fmla="val 12873814"/>
            </a:avLst>
          </a:prstGeom>
          <a:solidFill>
            <a:srgbClr val="D7425E"/>
          </a:solidFill>
          <a:ln/>
        </p:spPr>
      </p:sp>
      <p:sp>
        <p:nvSpPr>
          <p:cNvPr id="10" name="Text 6"/>
          <p:cNvSpPr/>
          <p:nvPr/>
        </p:nvSpPr>
        <p:spPr>
          <a:xfrm>
            <a:off x="5491401" y="2887861"/>
            <a:ext cx="2785229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Двойная стрельба</a:t>
            </a:r>
            <a:endParaRPr lang="en-US" sz="2150" dirty="0"/>
          </a:p>
        </p:txBody>
      </p:sp>
      <p:sp>
        <p:nvSpPr>
          <p:cNvPr id="11" name="Shape 7"/>
          <p:cNvSpPr/>
          <p:nvPr/>
        </p:nvSpPr>
        <p:spPr>
          <a:xfrm>
            <a:off x="9635133" y="1681401"/>
            <a:ext cx="4166592" cy="2162056"/>
          </a:xfrm>
          <a:prstGeom prst="roundRect">
            <a:avLst>
              <a:gd name="adj" fmla="val 16425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894689" y="1940957"/>
            <a:ext cx="710208" cy="710208"/>
          </a:xfrm>
          <a:prstGeom prst="roundRect">
            <a:avLst>
              <a:gd name="adj" fmla="val 12873814"/>
            </a:avLst>
          </a:prstGeom>
          <a:solidFill>
            <a:srgbClr val="DD785E"/>
          </a:solidFill>
          <a:ln/>
        </p:spPr>
      </p:sp>
      <p:sp>
        <p:nvSpPr>
          <p:cNvPr id="14" name="Text 9"/>
          <p:cNvSpPr/>
          <p:nvPr/>
        </p:nvSpPr>
        <p:spPr>
          <a:xfrm>
            <a:off x="9894689" y="2887861"/>
            <a:ext cx="3647480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Увеличенная скорострельность</a:t>
            </a:r>
            <a:endParaRPr lang="en-US" sz="2150" dirty="0"/>
          </a:p>
        </p:txBody>
      </p:sp>
      <p:sp>
        <p:nvSpPr>
          <p:cNvPr id="15" name="Text 10"/>
          <p:cNvSpPr/>
          <p:nvPr/>
        </p:nvSpPr>
        <p:spPr>
          <a:xfrm>
            <a:off x="828556" y="4198501"/>
            <a:ext cx="2785229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Особенности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828556" y="4901565"/>
            <a:ext cx="12973288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Баффы — отдельные сущности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8556" y="5362932"/>
            <a:ext cx="12973288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Медленно дрейфуют в пространстве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828556" y="5824299"/>
            <a:ext cx="12973288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Работают по таймеру (20 секунд)</a:t>
            </a:r>
            <a:endParaRPr lang="en-US" sz="1850" dirty="0"/>
          </a:p>
        </p:txBody>
      </p:sp>
      <p:sp>
        <p:nvSpPr>
          <p:cNvPr id="19" name="Shape 14"/>
          <p:cNvSpPr/>
          <p:nvPr/>
        </p:nvSpPr>
        <p:spPr>
          <a:xfrm>
            <a:off x="828556" y="6469261"/>
            <a:ext cx="12973288" cy="1112282"/>
          </a:xfrm>
          <a:prstGeom prst="roundRect">
            <a:avLst>
              <a:gd name="adj" fmla="val 31928"/>
            </a:avLst>
          </a:prstGeom>
          <a:solidFill>
            <a:srgbClr val="0D0D3B"/>
          </a:solidFill>
          <a:ln/>
        </p:spPr>
      </p:sp>
      <p:sp>
        <p:nvSpPr>
          <p:cNvPr id="20" name="Shape 15"/>
          <p:cNvSpPr/>
          <p:nvPr/>
        </p:nvSpPr>
        <p:spPr>
          <a:xfrm>
            <a:off x="816769" y="6469261"/>
            <a:ext cx="12996863" cy="1112282"/>
          </a:xfrm>
          <a:prstGeom prst="roundRect">
            <a:avLst>
              <a:gd name="adj" fmla="val 3193"/>
            </a:avLst>
          </a:prstGeom>
          <a:solidFill>
            <a:srgbClr val="0D0D3B"/>
          </a:solidFill>
          <a:ln/>
        </p:spPr>
      </p:sp>
      <p:sp>
        <p:nvSpPr>
          <p:cNvPr id="21" name="Text 16"/>
          <p:cNvSpPr/>
          <p:nvPr/>
        </p:nvSpPr>
        <p:spPr>
          <a:xfrm>
            <a:off x="1053465" y="6646783"/>
            <a:ext cx="12523470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buff.apply(self)</a:t>
            </a:r>
            <a:endParaRPr lang="en-US" sz="1850" dirty="0"/>
          </a:p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self.double_shot_timer = 20 * 60</a:t>
            </a:r>
            <a:endParaRPr lang="en-US" sz="18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1AE2230-37A3-4103-890E-C7A4322142A7}"/>
              </a:ext>
            </a:extLst>
          </p:cNvPr>
          <p:cNvSpPr/>
          <p:nvPr/>
        </p:nvSpPr>
        <p:spPr>
          <a:xfrm>
            <a:off x="12670971" y="7664291"/>
            <a:ext cx="1879042" cy="474874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34816"/>
            <a:ext cx="5042416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Очки, уровни и данные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34963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Очки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087654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Начисляются за уничтожение астероидов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4963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Уровни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087654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 каждым уровнем больше астероидов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357813" y="4937403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Увеличивается сложность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877901" y="34963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Хранение данных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877901" y="4117538"/>
            <a:ext cx="3928586" cy="1507927"/>
          </a:xfrm>
          <a:prstGeom prst="roundRect">
            <a:avLst>
              <a:gd name="adj" fmla="val 23812"/>
            </a:avLst>
          </a:prstGeom>
          <a:solidFill>
            <a:srgbClr val="0D0D3B"/>
          </a:solidFill>
          <a:ln/>
        </p:spPr>
      </p:sp>
      <p:sp>
        <p:nvSpPr>
          <p:cNvPr id="10" name="Shape 8"/>
          <p:cNvSpPr/>
          <p:nvPr/>
        </p:nvSpPr>
        <p:spPr>
          <a:xfrm>
            <a:off x="9865995" y="4117538"/>
            <a:ext cx="3952399" cy="1507927"/>
          </a:xfrm>
          <a:prstGeom prst="roundRect">
            <a:avLst>
              <a:gd name="adj" fmla="val 2381"/>
            </a:avLst>
          </a:prstGeom>
          <a:solidFill>
            <a:srgbClr val="0D0D3B"/>
          </a:solidFill>
          <a:ln/>
        </p:spPr>
      </p:sp>
      <p:sp>
        <p:nvSpPr>
          <p:cNvPr id="11" name="Text 9"/>
          <p:cNvSpPr/>
          <p:nvPr/>
        </p:nvSpPr>
        <p:spPr>
          <a:xfrm>
            <a:off x="10105311" y="4296966"/>
            <a:ext cx="347376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open("high_score.txt", "w") as f: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f.write(str(score))</a:t>
            </a:r>
            <a:endParaRPr lang="en-US" sz="18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6D646FD-6EB8-40DE-82AE-DBFE3F995003}"/>
              </a:ext>
            </a:extLst>
          </p:cNvPr>
          <p:cNvSpPr/>
          <p:nvPr/>
        </p:nvSpPr>
        <p:spPr>
          <a:xfrm>
            <a:off x="12670971" y="7506119"/>
            <a:ext cx="1879042" cy="633046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04931"/>
            <a:ext cx="5618202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Итоги и развитие проекта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346650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Результаты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05776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Полноценная 2D‑игра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524494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Реализованы физика, камера, столкновения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99121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Модульный и расширяемый код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14761" y="3466505"/>
            <a:ext cx="31499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Возможности развития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14761" y="405776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Новые типы врагов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4761" y="4524494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Боссы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499121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Анимации и эффекты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4761" y="5457944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Онлайн‑таблица рекордов</a:t>
            </a:r>
            <a:endParaRPr lang="en-US" sz="18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26C5E2E-E0D7-45F2-8B31-2A0E7D95E230}"/>
              </a:ext>
            </a:extLst>
          </p:cNvPr>
          <p:cNvSpPr/>
          <p:nvPr/>
        </p:nvSpPr>
        <p:spPr>
          <a:xfrm>
            <a:off x="12670971" y="7506119"/>
            <a:ext cx="1879042" cy="633046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448</Words>
  <Application>Microsoft Office PowerPoint</Application>
  <PresentationFormat>Произвольный</PresentationFormat>
  <Paragraphs>95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PT Sans</vt:lpstr>
      <vt:lpstr>Consolas</vt:lpstr>
      <vt:lpstr>Nunito Semi Bold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Максим Богушевич</dc:creator>
  <cp:lastModifiedBy>Максим _</cp:lastModifiedBy>
  <cp:revision>4</cp:revision>
  <dcterms:created xsi:type="dcterms:W3CDTF">2026-01-18T11:33:04Z</dcterms:created>
  <dcterms:modified xsi:type="dcterms:W3CDTF">2026-01-18T11:55:18Z</dcterms:modified>
</cp:coreProperties>
</file>